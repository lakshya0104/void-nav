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4cd1e482-d7b9-96e8-16e8-d5885bbad36a}">
          <p14:sldIdLst>
            <p14:sldId id="256"/>
            <p14:sldId id="257"/>
            <p14:sldId id="258"/>
          </p14:sldIdLst>
        </p14:section>
        <p14:section name="System" id="{fb961d5a-bea3-2050-2558-5b38a178656f}">
          <p14:sldIdLst>
            <p14:sldId id="259"/>
            <p14:sldId id="260"/>
            <p14:sldId id="261"/>
          </p14:sldIdLst>
        </p14:section>
        <p14:section name="Evaluation" id="{0309d27b-61df-cc39-b8d0-4a7644e1f136}">
          <p14:sldIdLst>
            <p14:sldId id="262"/>
            <p14:sldId id="263"/>
            <p14:sldId id="264"/>
            <p14:sldId id="265"/>
            <p14:sldId id="266"/>
            <p14:sldId id="267"/>
          </p14:sldIdLst>
        </p14:section>
        <p14:section name="Close" id="{88f8a1ed-30b3-df39-8158-bd382b213daf}">
          <p14:sldIdLst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32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1320"/>
                </a:solidFill>
                <a:latin typeface="+mn-lt"/>
              </a:rPr>
              <a:t>Delivery ratio (%) vs. nodes failed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Direct carry</c:v>
                </c:pt>
              </c:strCache>
            </c:strRef>
          </c:tx>
          <c:spPr>
            <a:solidFill>
              <a:srgbClr val="8D99AE"/>
            </a:solidFill>
            <a:ln w="38100" cap="flat">
              <a:solidFill>
                <a:srgbClr val="8D99A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8D99AE"/>
              </a:solidFill>
              <a:ln w="9525" cap="flat">
                <a:solidFill>
                  <a:srgbClr val="8D99A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0%</c:v>
                  </c:pt>
                  <c:pt idx="1">
                    <c:v>10%</c:v>
                  </c:pt>
                  <c:pt idx="2">
                    <c:v>20%</c:v>
                  </c:pt>
                  <c:pt idx="3">
                    <c:v>30%</c:v>
                  </c:pt>
                  <c:pt idx="4">
                    <c:v>40%</c:v>
                  </c:pt>
                  <c:pt idx="5">
                    <c:v>50%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94</c:v>
                </c:pt>
                <c:pt idx="1">
                  <c:v>85</c:v>
                </c:pt>
                <c:pt idx="2">
                  <c:v>70.6</c:v>
                </c:pt>
                <c:pt idx="3">
                  <c:v>62.2</c:v>
                </c:pt>
                <c:pt idx="4">
                  <c:v>53.3</c:v>
                </c:pt>
                <c:pt idx="5">
                  <c:v>44.5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Epidemic flood</c:v>
                </c:pt>
              </c:strCache>
            </c:strRef>
          </c:tx>
          <c:spPr>
            <a:solidFill>
              <a:srgbClr val="5A7DA8"/>
            </a:solidFill>
            <a:ln w="38100" cap="flat">
              <a:solidFill>
                <a:srgbClr val="5A7D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5A7DA8"/>
              </a:solidFill>
              <a:ln w="9525" cap="flat">
                <a:solidFill>
                  <a:srgbClr val="5A7D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0%</c:v>
                  </c:pt>
                  <c:pt idx="1">
                    <c:v>10%</c:v>
                  </c:pt>
                  <c:pt idx="2">
                    <c:v>20%</c:v>
                  </c:pt>
                  <c:pt idx="3">
                    <c:v>30%</c:v>
                  </c:pt>
                  <c:pt idx="4">
                    <c:v>40%</c:v>
                  </c:pt>
                  <c:pt idx="5">
                    <c:v>50%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99</c:v>
                </c:pt>
                <c:pt idx="1">
                  <c:v>94.2</c:v>
                </c:pt>
                <c:pt idx="2">
                  <c:v>85.2</c:v>
                </c:pt>
                <c:pt idx="3">
                  <c:v>82.5</c:v>
                </c:pt>
                <c:pt idx="4">
                  <c:v>78.8</c:v>
                </c:pt>
                <c:pt idx="5">
                  <c:v>73.2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Spray &amp; Wait</c:v>
                </c:pt>
              </c:strCache>
            </c:strRef>
          </c:tx>
          <c:spPr>
            <a:solidFill>
              <a:srgbClr val="FFC857"/>
            </a:solidFill>
            <a:ln w="38100" cap="flat">
              <a:solidFill>
                <a:srgbClr val="FFC85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FFC857"/>
              </a:solidFill>
              <a:ln w="9525" cap="flat">
                <a:solidFill>
                  <a:srgbClr val="FFC85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0%</c:v>
                  </c:pt>
                  <c:pt idx="1">
                    <c:v>10%</c:v>
                  </c:pt>
                  <c:pt idx="2">
                    <c:v>20%</c:v>
                  </c:pt>
                  <c:pt idx="3">
                    <c:v>30%</c:v>
                  </c:pt>
                  <c:pt idx="4">
                    <c:v>40%</c:v>
                  </c:pt>
                  <c:pt idx="5">
                    <c:v>50%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100</c:v>
                </c:pt>
                <c:pt idx="1">
                  <c:v>94.4</c:v>
                </c:pt>
                <c:pt idx="2">
                  <c:v>85.7</c:v>
                </c:pt>
                <c:pt idx="3">
                  <c:v>80.8</c:v>
                </c:pt>
                <c:pt idx="4">
                  <c:v>75.1</c:v>
                </c:pt>
                <c:pt idx="5">
                  <c:v>68.2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VOID-NAV</c:v>
                </c:pt>
              </c:strCache>
            </c:strRef>
          </c:tx>
          <c:spPr>
            <a:solidFill>
              <a:srgbClr val="FF6B35"/>
            </a:solidFill>
            <a:ln w="38100" cap="flat">
              <a:solidFill>
                <a:srgbClr val="FF6B3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FF6B35"/>
              </a:solidFill>
              <a:ln w="9525" cap="flat">
                <a:solidFill>
                  <a:srgbClr val="FF6B3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0%</c:v>
                  </c:pt>
                  <c:pt idx="1">
                    <c:v>10%</c:v>
                  </c:pt>
                  <c:pt idx="2">
                    <c:v>20%</c:v>
                  </c:pt>
                  <c:pt idx="3">
                    <c:v>30%</c:v>
                  </c:pt>
                  <c:pt idx="4">
                    <c:v>40%</c:v>
                  </c:pt>
                  <c:pt idx="5">
                    <c:v>50%</c:v>
                  </c:pt>
                </c:lvl>
              </c:multiLvlStrCache>
            </c:multiLvlStrRef>
          </c:cat>
          <c:val>
            <c:numRef>
              <c:f>Sheet1!$E$2:$E$7</c:f>
              <c:numCache>
                <c:formatCode>General</c:formatCode>
                <c:ptCount val="6"/>
                <c:pt idx="0">
                  <c:v>99.2</c:v>
                </c:pt>
                <c:pt idx="1">
                  <c:v>94.6</c:v>
                </c:pt>
                <c:pt idx="2">
                  <c:v>85.7</c:v>
                </c:pt>
                <c:pt idx="3">
                  <c:v>80.1</c:v>
                </c:pt>
                <c:pt idx="4">
                  <c:v>74.9</c:v>
                </c:pt>
                <c:pt idx="5">
                  <c:v>67.9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A5568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4A5568"/>
                    </a:solidFill>
                    <a:latin typeface="Arial"/>
                  </a:rPr>
                  <a:t>Nodes failed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40"/>
        </c:scaling>
        <c:delete val="0"/>
        <c:axPos val="l"/>
        <c:majorGridlines>
          <c:spPr>
            <a:ln w="6350" cap="flat">
              <a:solidFill>
                <a:srgbClr val="D5DC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A556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32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1320"/>
                </a:solidFill>
                <a:latin typeface="+mn-lt"/>
              </a:rPr>
              <a:t>Median SOS latency at 20% failure (minutes)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Median SOS latency (min)</c:v>
                </c:pt>
              </c:strCache>
            </c:strRef>
          </c:tx>
          <c:spPr>
            <a:solidFill>
              <a:srgbClr val="8D99AE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A556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8D99A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A7DA8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C857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F6B35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Direct carry</c:v>
                  </c:pt>
                  <c:pt idx="1">
                    <c:v>Epidemic flood</c:v>
                  </c:pt>
                  <c:pt idx="2">
                    <c:v>Spray &amp; Wait</c:v>
                  </c:pt>
                  <c:pt idx="3">
                    <c:v>VOID-NAV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13.8</c:v>
                </c:pt>
                <c:pt idx="1">
                  <c:v>1.8</c:v>
                </c:pt>
                <c:pt idx="2">
                  <c:v>4.4</c:v>
                </c:pt>
                <c:pt idx="3">
                  <c:v>2.4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4A556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32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1320"/>
                </a:solidFill>
                <a:latin typeface="+mn-lt"/>
              </a:rPr>
              <a:t>Cumulative % of all messages delivered by time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Direct carry</c:v>
                </c:pt>
              </c:strCache>
            </c:strRef>
          </c:tx>
          <c:spPr>
            <a:solidFill>
              <a:srgbClr val="8D99AE"/>
            </a:solidFill>
            <a:ln w="31750" cap="flat">
              <a:solidFill>
                <a:srgbClr val="8D99AE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8D99AE"/>
              </a:solidFill>
              <a:ln w="9525" cap="flat">
                <a:solidFill>
                  <a:srgbClr val="8D99AE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0m</c:v>
                  </c:pt>
                  <c:pt idx="1">
                    <c:v>2m</c:v>
                  </c:pt>
                  <c:pt idx="2">
                    <c:v>4m</c:v>
                  </c:pt>
                  <c:pt idx="3">
                    <c:v>6m</c:v>
                  </c:pt>
                  <c:pt idx="4">
                    <c:v>8m</c:v>
                  </c:pt>
                  <c:pt idx="5">
                    <c:v>10m</c:v>
                  </c:pt>
                  <c:pt idx="6">
                    <c:v>15m</c:v>
                  </c:pt>
                  <c:pt idx="7">
                    <c:v>20m</c:v>
                  </c:pt>
                  <c:pt idx="8">
                    <c:v>30m</c:v>
                  </c:pt>
                  <c:pt idx="9">
                    <c:v>45m</c:v>
                  </c:pt>
                  <c:pt idx="10">
                    <c:v>60m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4.4</c:v>
                </c:pt>
                <c:pt idx="1">
                  <c:v>10.2</c:v>
                </c:pt>
                <c:pt idx="2">
                  <c:v>14.9</c:v>
                </c:pt>
                <c:pt idx="3">
                  <c:v>21</c:v>
                </c:pt>
                <c:pt idx="4">
                  <c:v>26.6</c:v>
                </c:pt>
                <c:pt idx="5">
                  <c:v>31.8</c:v>
                </c:pt>
                <c:pt idx="6">
                  <c:v>39.2</c:v>
                </c:pt>
                <c:pt idx="7">
                  <c:v>45.4</c:v>
                </c:pt>
                <c:pt idx="8">
                  <c:v>55</c:v>
                </c:pt>
                <c:pt idx="9">
                  <c:v>64.5</c:v>
                </c:pt>
                <c:pt idx="10">
                  <c:v>68.7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Epidemic flood</c:v>
                </c:pt>
              </c:strCache>
            </c:strRef>
          </c:tx>
          <c:spPr>
            <a:solidFill>
              <a:srgbClr val="5A7DA8"/>
            </a:solidFill>
            <a:ln w="31750" cap="flat">
              <a:solidFill>
                <a:srgbClr val="5A7DA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5A7DA8"/>
              </a:solidFill>
              <a:ln w="9525" cap="flat">
                <a:solidFill>
                  <a:srgbClr val="5A7DA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0m</c:v>
                  </c:pt>
                  <c:pt idx="1">
                    <c:v>2m</c:v>
                  </c:pt>
                  <c:pt idx="2">
                    <c:v>4m</c:v>
                  </c:pt>
                  <c:pt idx="3">
                    <c:v>6m</c:v>
                  </c:pt>
                  <c:pt idx="4">
                    <c:v>8m</c:v>
                  </c:pt>
                  <c:pt idx="5">
                    <c:v>10m</c:v>
                  </c:pt>
                  <c:pt idx="6">
                    <c:v>15m</c:v>
                  </c:pt>
                  <c:pt idx="7">
                    <c:v>20m</c:v>
                  </c:pt>
                  <c:pt idx="8">
                    <c:v>30m</c:v>
                  </c:pt>
                  <c:pt idx="9">
                    <c:v>45m</c:v>
                  </c:pt>
                  <c:pt idx="10">
                    <c:v>60m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8.7</c:v>
                </c:pt>
                <c:pt idx="1">
                  <c:v>49.2</c:v>
                </c:pt>
                <c:pt idx="2">
                  <c:v>62.3</c:v>
                </c:pt>
                <c:pt idx="3">
                  <c:v>66.5</c:v>
                </c:pt>
                <c:pt idx="4">
                  <c:v>71.7</c:v>
                </c:pt>
                <c:pt idx="5">
                  <c:v>73.8</c:v>
                </c:pt>
                <c:pt idx="6">
                  <c:v>78.5</c:v>
                </c:pt>
                <c:pt idx="7">
                  <c:v>80.4</c:v>
                </c:pt>
                <c:pt idx="8">
                  <c:v>83.5</c:v>
                </c:pt>
                <c:pt idx="9">
                  <c:v>84.8</c:v>
                </c:pt>
                <c:pt idx="10">
                  <c:v>85.2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Spray &amp; Wait</c:v>
                </c:pt>
              </c:strCache>
            </c:strRef>
          </c:tx>
          <c:spPr>
            <a:solidFill>
              <a:srgbClr val="FFC857"/>
            </a:solidFill>
            <a:ln w="31750" cap="flat">
              <a:solidFill>
                <a:srgbClr val="FFC85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FC857"/>
              </a:solidFill>
              <a:ln w="9525" cap="flat">
                <a:solidFill>
                  <a:srgbClr val="FFC85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0m</c:v>
                  </c:pt>
                  <c:pt idx="1">
                    <c:v>2m</c:v>
                  </c:pt>
                  <c:pt idx="2">
                    <c:v>4m</c:v>
                  </c:pt>
                  <c:pt idx="3">
                    <c:v>6m</c:v>
                  </c:pt>
                  <c:pt idx="4">
                    <c:v>8m</c:v>
                  </c:pt>
                  <c:pt idx="5">
                    <c:v>10m</c:v>
                  </c:pt>
                  <c:pt idx="6">
                    <c:v>15m</c:v>
                  </c:pt>
                  <c:pt idx="7">
                    <c:v>20m</c:v>
                  </c:pt>
                  <c:pt idx="8">
                    <c:v>30m</c:v>
                  </c:pt>
                  <c:pt idx="9">
                    <c:v>45m</c:v>
                  </c:pt>
                  <c:pt idx="10">
                    <c:v>60m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7.9</c:v>
                </c:pt>
                <c:pt idx="1">
                  <c:v>25.1</c:v>
                </c:pt>
                <c:pt idx="2">
                  <c:v>40.5</c:v>
                </c:pt>
                <c:pt idx="3">
                  <c:v>53.1</c:v>
                </c:pt>
                <c:pt idx="4">
                  <c:v>64.5</c:v>
                </c:pt>
                <c:pt idx="5">
                  <c:v>70.8</c:v>
                </c:pt>
                <c:pt idx="6">
                  <c:v>79.3</c:v>
                </c:pt>
                <c:pt idx="7">
                  <c:v>82.8</c:v>
                </c:pt>
                <c:pt idx="8">
                  <c:v>85.5</c:v>
                </c:pt>
                <c:pt idx="9">
                  <c:v>85.7</c:v>
                </c:pt>
                <c:pt idx="10">
                  <c:v>85.7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VOID-NAV</c:v>
                </c:pt>
              </c:strCache>
            </c:strRef>
          </c:tx>
          <c:spPr>
            <a:solidFill>
              <a:srgbClr val="FF6B35"/>
            </a:solidFill>
            <a:ln w="31750" cap="flat">
              <a:solidFill>
                <a:srgbClr val="FF6B3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+mn-lt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none"/>
            <c:size val="6"/>
            <c:spPr>
              <a:solidFill>
                <a:srgbClr val="FF6B35"/>
              </a:solidFill>
              <a:ln w="9525" cap="flat">
                <a:solidFill>
                  <a:srgbClr val="FF6B3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0m</c:v>
                  </c:pt>
                  <c:pt idx="1">
                    <c:v>2m</c:v>
                  </c:pt>
                  <c:pt idx="2">
                    <c:v>4m</c:v>
                  </c:pt>
                  <c:pt idx="3">
                    <c:v>6m</c:v>
                  </c:pt>
                  <c:pt idx="4">
                    <c:v>8m</c:v>
                  </c:pt>
                  <c:pt idx="5">
                    <c:v>10m</c:v>
                  </c:pt>
                  <c:pt idx="6">
                    <c:v>15m</c:v>
                  </c:pt>
                  <c:pt idx="7">
                    <c:v>20m</c:v>
                  </c:pt>
                  <c:pt idx="8">
                    <c:v>30m</c:v>
                  </c:pt>
                  <c:pt idx="9">
                    <c:v>45m</c:v>
                  </c:pt>
                  <c:pt idx="10">
                    <c:v>60m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8.3</c:v>
                </c:pt>
                <c:pt idx="1">
                  <c:v>30.1</c:v>
                </c:pt>
                <c:pt idx="2">
                  <c:v>45.3</c:v>
                </c:pt>
                <c:pt idx="3">
                  <c:v>54.2</c:v>
                </c:pt>
                <c:pt idx="4">
                  <c:v>63.1</c:v>
                </c:pt>
                <c:pt idx="5">
                  <c:v>67.9</c:v>
                </c:pt>
                <c:pt idx="6">
                  <c:v>77</c:v>
                </c:pt>
                <c:pt idx="7">
                  <c:v>81.8</c:v>
                </c:pt>
                <c:pt idx="8">
                  <c:v>85.1</c:v>
                </c:pt>
                <c:pt idx="9">
                  <c:v>85.7</c:v>
                </c:pt>
                <c:pt idx="10">
                  <c:v>85.7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+mn-lt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D5DC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A5568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FFFFFF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FFFFFF"/>
                </a:solidFill>
                <a:latin typeface="+mn-lt"/>
              </a:rPr>
              <a:t>Data transmissions per delivered message (20% failure)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Transmissions per delivered message</c:v>
                </c:pt>
              </c:strCache>
            </c:strRef>
          </c:tx>
          <c:spPr>
            <a:solidFill>
              <a:srgbClr val="5A7DA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C9D2DE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A7DA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FFC857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F6B35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Epidemic flood</c:v>
                  </c:pt>
                  <c:pt idx="1">
                    <c:v>Spray &amp; Wait</c:v>
                  </c:pt>
                  <c:pt idx="2">
                    <c:v>VOID-NAV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710.3</c:v>
                </c:pt>
                <c:pt idx="1">
                  <c:v>14.1</c:v>
                </c:pt>
                <c:pt idx="2">
                  <c:v>17.7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C9D2DE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9D2DE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C9D2DE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1320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B1320"/>
                </a:solidFill>
                <a:latin typeface="+mn-lt"/>
              </a:rPr>
              <a:t>Delivered messages confirmed back to sender (%), by nodes failed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Delivered messages confirmed to sender (%)</c:v>
                </c:pt>
              </c:strCache>
            </c:strRef>
          </c:tx>
          <c:spPr>
            <a:solidFill>
              <a:srgbClr val="2EC4B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4A5568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0%</c:v>
                  </c:pt>
                  <c:pt idx="1">
                    <c:v>10%</c:v>
                  </c:pt>
                  <c:pt idx="2">
                    <c:v>20%</c:v>
                  </c:pt>
                  <c:pt idx="3">
                    <c:v>30%</c:v>
                  </c:pt>
                  <c:pt idx="4">
                    <c:v>40%</c:v>
                  </c:pt>
                  <c:pt idx="5">
                    <c:v>50%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100</c:v>
                </c:pt>
                <c:pt idx="1">
                  <c:v>99.2</c:v>
                </c:pt>
                <c:pt idx="2">
                  <c:v>97.4</c:v>
                </c:pt>
                <c:pt idx="3">
                  <c:v>97.1</c:v>
                </c:pt>
                <c:pt idx="4">
                  <c:v>96.4</c:v>
                </c:pt>
                <c:pt idx="5">
                  <c:v>94.6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4A5568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A5568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4A5568"/>
                    </a:solidFill>
                    <a:latin typeface="Arial"/>
                  </a:rPr>
                  <a:t>Nodes failed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80"/>
        </c:scaling>
        <c:delete val="0"/>
        <c:axPos val="l"/>
        <c:majorGridlines>
          <c:spPr>
            <a:ln w="6350" cap="flat">
              <a:solidFill>
                <a:srgbClr val="D5DC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5568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VOID-NAV: an infrastructure-independent emergency messaging network built on store-carry-forward multi-hop relaying with end-to-end delivery confirmation.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76809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57600"/>
            <a:ext cx="7315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rgbClr val="0B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VOID-NAV  ·  TH2-PS-NGC-008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rgbClr val="EEF2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VOID-NAV  ·  TH2-PS-NGC-008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1280160"/>
            <a:ext cx="1463040" cy="640080"/>
          </a:xfrm>
          <a:prstGeom prst="line">
            <a:avLst/>
          </a:prstGeom>
          <a:noFill/>
          <a:ln w="19050">
            <a:solidFill>
              <a:srgbClr val="2EC4B6">
                <a:alpha val="6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flipH="1">
            <a:off x="8961120" y="1280160"/>
            <a:ext cx="548640" cy="1737360"/>
          </a:xfrm>
          <a:prstGeom prst="line">
            <a:avLst/>
          </a:prstGeom>
          <a:noFill/>
          <a:ln w="19050">
            <a:solidFill>
              <a:srgbClr val="2EC4B6">
                <a:alpha val="6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flipH="1">
            <a:off x="10424160" y="1920240"/>
            <a:ext cx="548640" cy="1554480"/>
          </a:xfrm>
          <a:prstGeom prst="line">
            <a:avLst/>
          </a:prstGeom>
          <a:noFill/>
          <a:ln w="19050">
            <a:solidFill>
              <a:srgbClr val="2EC4B6">
                <a:alpha val="6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961120" y="3017520"/>
            <a:ext cx="1463040" cy="457200"/>
          </a:xfrm>
          <a:prstGeom prst="line">
            <a:avLst/>
          </a:prstGeom>
          <a:noFill/>
          <a:ln w="19050">
            <a:solidFill>
              <a:srgbClr val="2EC4B6">
                <a:alpha val="6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424160" y="3474720"/>
            <a:ext cx="1097280" cy="914400"/>
          </a:xfrm>
          <a:prstGeom prst="line">
            <a:avLst/>
          </a:prstGeom>
          <a:noFill/>
          <a:ln w="19050">
            <a:solidFill>
              <a:srgbClr val="2EC4B6">
                <a:alpha val="6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flipH="1">
            <a:off x="9418320" y="3474720"/>
            <a:ext cx="1005840" cy="1280160"/>
          </a:xfrm>
          <a:prstGeom prst="line">
            <a:avLst/>
          </a:prstGeom>
          <a:noFill/>
          <a:ln w="19050">
            <a:solidFill>
              <a:srgbClr val="2EC4B6">
                <a:alpha val="6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418320" y="4754880"/>
            <a:ext cx="1188720" cy="914400"/>
          </a:xfrm>
          <a:prstGeom prst="line">
            <a:avLst/>
          </a:prstGeom>
          <a:noFill/>
          <a:ln w="19050">
            <a:solidFill>
              <a:srgbClr val="2EC4B6">
                <a:alpha val="6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flipH="1">
            <a:off x="10607040" y="4389120"/>
            <a:ext cx="914400" cy="1280160"/>
          </a:xfrm>
          <a:prstGeom prst="line">
            <a:avLst/>
          </a:prstGeom>
          <a:noFill/>
          <a:ln w="19050">
            <a:solidFill>
              <a:srgbClr val="2EC4B6">
                <a:alpha val="6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>
            <a:off x="8412480" y="4754880"/>
            <a:ext cx="1005840" cy="1097280"/>
          </a:xfrm>
          <a:prstGeom prst="line">
            <a:avLst/>
          </a:prstGeom>
          <a:noFill/>
          <a:ln w="19050">
            <a:solidFill>
              <a:srgbClr val="2EC4B6">
                <a:alpha val="6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961120" y="3017520"/>
            <a:ext cx="457200" cy="1737360"/>
          </a:xfrm>
          <a:prstGeom prst="line">
            <a:avLst/>
          </a:prstGeom>
          <a:noFill/>
          <a:ln w="19050">
            <a:solidFill>
              <a:srgbClr val="2EC4B6">
                <a:alpha val="6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26880" y="1097280"/>
            <a:ext cx="365760" cy="36576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789920" y="1737360"/>
            <a:ext cx="365760" cy="36576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78240" y="2834640"/>
            <a:ext cx="365760" cy="36576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241280" y="3291840"/>
            <a:ext cx="365760" cy="36576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1338560" y="4206240"/>
            <a:ext cx="365760" cy="36576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235440" y="4572000"/>
            <a:ext cx="365760" cy="36576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424160" y="5486400"/>
            <a:ext cx="365760" cy="365760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29600" y="5669280"/>
            <a:ext cx="365760" cy="36576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chemeClr val="accent1"/>
                </a:solidFill>
              </a:rPr>
              <a:t>PROBLEM STATEMENT 8  ·  NEXT GEN COMMUNICATION</a:t>
            </a:r>
            <a:endParaRPr lang="en-US" sz="1400" dirty="0"/>
          </a:p>
        </p:txBody>
      </p:sp>
      <p:sp>
        <p:nvSpPr>
          <p:cNvPr id="21" name="Text 0"/>
          <p:cNvSpPr/>
          <p:nvPr>
            <p:ph idx="100" type="title" hasCustomPrompt="1"/>
          </p:nvPr>
        </p:nvSpPr>
        <p:spPr>
          <a:xfrm>
            <a:off x="548640" y="2103120"/>
            <a:ext cx="7680960" cy="1463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VOID-NAV</a:t>
            </a:r>
            <a:endParaRPr lang="en-US" sz="4800" dirty="0"/>
          </a:p>
        </p:txBody>
      </p:sp>
      <p:sp>
        <p:nvSpPr>
          <p:cNvPr id="22" name="Text 0"/>
          <p:cNvSpPr/>
          <p:nvPr>
            <p:ph idx="101" type="body" hasCustomPrompt="1"/>
          </p:nvPr>
        </p:nvSpPr>
        <p:spPr>
          <a:xfrm>
            <a:off x="548640" y="3657600"/>
            <a:ext cx="73152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Off-grid, multi-hop emergency messaging that keeps working when towers, power and Internet don't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120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SOS in  →  hop · hop · hop  →  delivered ✓  →  confirmation back to sender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 grid goes dark, so does the call for help</a:t>
            </a:r>
            <a:endParaRPr lang="en-US" sz="3600" dirty="0"/>
          </a:p>
        </p:txBody>
      </p:sp>
      <p:sp>
        <p:nvSpPr>
          <p:cNvPr id="3" name="problem0"/>
          <p:cNvSpPr/>
          <p:nvPr/>
        </p:nvSpPr>
        <p:spPr>
          <a:xfrm>
            <a:off x="548640" y="1554480"/>
            <a:ext cx="34747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7373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7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9260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cell towers reachable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4290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Backhaul and power loss take base stations down within hours of a major disaster</a:t>
            </a:r>
            <a:endParaRPr lang="en-US" sz="1400" dirty="0"/>
          </a:p>
        </p:txBody>
      </p:sp>
      <p:sp>
        <p:nvSpPr>
          <p:cNvPr id="7" name="problem1"/>
          <p:cNvSpPr/>
          <p:nvPr/>
        </p:nvSpPr>
        <p:spPr>
          <a:xfrm>
            <a:off x="4297680" y="1554480"/>
            <a:ext cx="34747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4572000" y="17373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72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9260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bars of Internet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34290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No cloud, no messaging apps, no location sharing for affected communities</a:t>
            </a:r>
            <a:endParaRPr lang="en-US" sz="1400" dirty="0"/>
          </a:p>
        </p:txBody>
      </p:sp>
      <p:sp>
        <p:nvSpPr>
          <p:cNvPr id="11" name="problem2"/>
          <p:cNvSpPr/>
          <p:nvPr/>
        </p:nvSpPr>
        <p:spPr>
          <a:xfrm>
            <a:off x="8046720" y="1554480"/>
            <a:ext cx="3474720" cy="310896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8321040" y="1737360"/>
            <a:ext cx="2926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</a:t>
            </a:r>
            <a:endParaRPr lang="en-US" sz="7200" dirty="0"/>
          </a:p>
        </p:txBody>
      </p:sp>
      <p:sp>
        <p:nvSpPr>
          <p:cNvPr id="13" name="Text 11"/>
          <p:cNvSpPr txBox="1"/>
          <p:nvPr/>
        </p:nvSpPr>
        <p:spPr>
          <a:xfrm>
            <a:off x="8321040" y="29260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did it arrive?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3429000"/>
            <a:ext cx="2926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Even when a message escapes, senders and responders can't tell if it reached anyone</a:t>
            </a:r>
            <a:endParaRPr lang="en-US" sz="1400" dirty="0"/>
          </a:p>
        </p:txBody>
      </p:sp>
      <p:sp>
        <p:nvSpPr>
          <p:cNvPr id="15" name="challenge"/>
          <p:cNvSpPr/>
          <p:nvPr/>
        </p:nvSpPr>
        <p:spPr>
          <a:xfrm>
            <a:off x="548640" y="5029200"/>
            <a:ext cx="11064240" cy="1005840"/>
          </a:xfrm>
          <a:prstGeom prst="roundRect">
            <a:avLst>
              <a:gd name="adj" fmla="val 10909"/>
            </a:avLst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Challenge: 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maintain communication, relay across changing connectivity and thin bandwidth, and give users and responders dependable delivery status.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VOID-NAV turns every device into a relay</a:t>
            </a:r>
            <a:endParaRPr lang="en-US" sz="3600" dirty="0"/>
          </a:p>
        </p:txBody>
      </p:sp>
      <p:sp>
        <p:nvSpPr>
          <p:cNvPr id="3" name="pillar0"/>
          <p:cNvSpPr/>
          <p:nvPr/>
        </p:nvSpPr>
        <p:spPr>
          <a:xfrm>
            <a:off x="548640" y="146304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1C2A3F"/>
          </a:solidFill>
          <a:ln w="12700">
            <a:solidFill>
              <a:srgbClr val="1C2A3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828800"/>
            <a:ext cx="822960" cy="82296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📱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783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Any device is a node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22860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2DE"/>
                </a:solidFill>
              </a:rPr>
              <a:t>Phones (BLE / Wi-Fi Direct), LoRa beacons and responder radios form an ad-hoc mesh — no towers, no SIM.</a:t>
            </a:r>
            <a:endParaRPr lang="en-US" sz="1400" dirty="0"/>
          </a:p>
        </p:txBody>
      </p:sp>
      <p:sp>
        <p:nvSpPr>
          <p:cNvPr id="8" name="pillar1"/>
          <p:cNvSpPr/>
          <p:nvPr/>
        </p:nvSpPr>
        <p:spPr>
          <a:xfrm>
            <a:off x="6172200" y="146304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1C2A3F"/>
          </a:solidFill>
          <a:ln w="12700">
            <a:solidFill>
              <a:srgbClr val="1C2A3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92240" y="1828800"/>
            <a:ext cx="822960" cy="82296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92240" y="18288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📦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543800" y="17830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Store · carry · forward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543800" y="22860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2DE"/>
                </a:solidFill>
              </a:rPr>
              <a:t>Messages wait in a node's buffer and ride people and vehicles across gaps in the network.</a:t>
            </a:r>
            <a:endParaRPr lang="en-US" sz="1400" dirty="0"/>
          </a:p>
        </p:txBody>
      </p:sp>
      <p:sp>
        <p:nvSpPr>
          <p:cNvPr id="13" name="pillar2"/>
          <p:cNvSpPr/>
          <p:nvPr/>
        </p:nvSpPr>
        <p:spPr>
          <a:xfrm>
            <a:off x="548640" y="384048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1C2A3F"/>
          </a:solidFill>
          <a:ln w="12700">
            <a:solidFill>
              <a:srgbClr val="1C2A3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68680" y="4206240"/>
            <a:ext cx="822960" cy="82296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68680" y="4206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🚨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1920240" y="4160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SOS first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920240" y="466344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2DE"/>
                </a:solidFill>
              </a:rPr>
              <a:t>Priority classes set copy budget, TTL and queue order; SOS pre-empts info traffic on thin links.</a:t>
            </a:r>
            <a:endParaRPr lang="en-US" sz="1400" dirty="0"/>
          </a:p>
        </p:txBody>
      </p:sp>
      <p:sp>
        <p:nvSpPr>
          <p:cNvPr id="18" name="pillar3"/>
          <p:cNvSpPr/>
          <p:nvPr/>
        </p:nvSpPr>
        <p:spPr>
          <a:xfrm>
            <a:off x="6172200" y="3840480"/>
            <a:ext cx="5440680" cy="2103120"/>
          </a:xfrm>
          <a:prstGeom prst="roundRect">
            <a:avLst>
              <a:gd name="adj" fmla="val 5217"/>
            </a:avLst>
          </a:prstGeom>
          <a:solidFill>
            <a:srgbClr val="1C2A3F"/>
          </a:solidFill>
          <a:ln w="12700">
            <a:solidFill>
              <a:srgbClr val="1C2A3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92240" y="4206240"/>
            <a:ext cx="822960" cy="82296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92240" y="4206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✅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543800" y="41605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Delivered receipts</a:t>
            </a:r>
            <a:endParaRPr lang="en-US" sz="2000" dirty="0"/>
          </a:p>
        </p:txBody>
      </p:sp>
      <p:sp>
        <p:nvSpPr>
          <p:cNvPr id="22" name="Text 20"/>
          <p:cNvSpPr txBox="1"/>
          <p:nvPr/>
        </p:nvSpPr>
        <p:spPr>
          <a:xfrm>
            <a:off x="7543800" y="466344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2DE"/>
                </a:solidFill>
              </a:rPr>
              <a:t>Destination emits a tiny ACK that floods back, confirms to the sender, and purges stale copies.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 architecture, infrastructure-free end to end</a:t>
            </a:r>
            <a:endParaRPr lang="en-US" sz="3600" dirty="0"/>
          </a:p>
        </p:txBody>
      </p:sp>
      <p:sp>
        <p:nvSpPr>
          <p:cNvPr id="3" name="layer0"/>
          <p:cNvSpPr/>
          <p:nvPr/>
        </p:nvSpPr>
        <p:spPr>
          <a:xfrm>
            <a:off x="548640" y="1417320"/>
            <a:ext cx="6766560" cy="777240"/>
          </a:xfrm>
          <a:prstGeom prst="roundRect">
            <a:avLst>
              <a:gd name="adj" fmla="val 14118"/>
            </a:avLst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77240" y="141732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Emergency App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3200400" y="141732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SOS button · templates · GPS tag · status ticks</a:t>
            </a:r>
            <a:endParaRPr lang="en-US" sz="1400" dirty="0"/>
          </a:p>
        </p:txBody>
      </p:sp>
      <p:sp>
        <p:nvSpPr>
          <p:cNvPr id="6" name="layer1"/>
          <p:cNvSpPr/>
          <p:nvPr/>
        </p:nvSpPr>
        <p:spPr>
          <a:xfrm>
            <a:off x="548640" y="2350008"/>
            <a:ext cx="6766560" cy="777240"/>
          </a:xfrm>
          <a:prstGeom prst="roundRect">
            <a:avLst>
              <a:gd name="adj" fmla="val 14118"/>
            </a:avLst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777240" y="2350008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Bundle Layer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200400" y="2350008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Signed message bundles · priority · TTL · custody</a:t>
            </a:r>
            <a:endParaRPr lang="en-US" sz="1400" dirty="0"/>
          </a:p>
        </p:txBody>
      </p:sp>
      <p:sp>
        <p:nvSpPr>
          <p:cNvPr id="9" name="layer2"/>
          <p:cNvSpPr/>
          <p:nvPr/>
        </p:nvSpPr>
        <p:spPr>
          <a:xfrm>
            <a:off x="548640" y="3282696"/>
            <a:ext cx="6766560" cy="777240"/>
          </a:xfrm>
          <a:prstGeom prst="roundRect">
            <a:avLst>
              <a:gd name="adj" fmla="val 14118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777240" y="3282696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Routing Engine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200400" y="3282696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Spray quota + delivery-predictability (PRoPHET) handoff</a:t>
            </a:r>
            <a:endParaRPr lang="en-US" sz="1400" dirty="0"/>
          </a:p>
        </p:txBody>
      </p:sp>
      <p:sp>
        <p:nvSpPr>
          <p:cNvPr id="12" name="layer3"/>
          <p:cNvSpPr/>
          <p:nvPr/>
        </p:nvSpPr>
        <p:spPr>
          <a:xfrm>
            <a:off x="548640" y="4215384"/>
            <a:ext cx="6766560" cy="777240"/>
          </a:xfrm>
          <a:prstGeom prst="roundRect">
            <a:avLst>
              <a:gd name="adj" fmla="val 14118"/>
            </a:avLst>
          </a:prstGeom>
          <a:solidFill>
            <a:srgbClr val="5A7DA8"/>
          </a:solidFill>
          <a:ln w="12700">
            <a:solidFill>
              <a:srgbClr val="5A7DA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77240" y="4215384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ACK / Status Plane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200400" y="4215384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Delivery receipts gossiped back · copy purge</a:t>
            </a:r>
            <a:endParaRPr lang="en-US" sz="1400" dirty="0"/>
          </a:p>
        </p:txBody>
      </p:sp>
      <p:sp>
        <p:nvSpPr>
          <p:cNvPr id="15" name="layer4"/>
          <p:cNvSpPr/>
          <p:nvPr/>
        </p:nvSpPr>
        <p:spPr>
          <a:xfrm>
            <a:off x="548640" y="5148072"/>
            <a:ext cx="6766560" cy="777240"/>
          </a:xfrm>
          <a:prstGeom prst="roundRect">
            <a:avLst>
              <a:gd name="adj" fmla="val 14118"/>
            </a:avLst>
          </a:prstGeom>
          <a:solidFill>
            <a:srgbClr val="1C2A3F"/>
          </a:solidFill>
          <a:ln w="12700">
            <a:solidFill>
              <a:srgbClr val="1C2A3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77240" y="5148072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Radio Abstraction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3200400" y="5148072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BLE · Wi-Fi Direct · LoRa 868/915 MHz · solar relays</a:t>
            </a:r>
            <a:endParaRPr lang="en-US" sz="1400" dirty="0"/>
          </a:p>
        </p:txBody>
      </p:sp>
      <p:sp>
        <p:nvSpPr>
          <p:cNvPr id="18" name="nodes"/>
          <p:cNvSpPr/>
          <p:nvPr/>
        </p:nvSpPr>
        <p:spPr>
          <a:xfrm>
            <a:off x="7772400" y="1417320"/>
            <a:ext cx="3840480" cy="4507992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046720" y="16002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Node types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046720" y="2240280"/>
            <a:ext cx="411480" cy="41148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641080" y="217627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Civilian phones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8641080" y="2487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mobile, intermittent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108960"/>
            <a:ext cx="411480" cy="4114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641080" y="304495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Responder radios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8641080" y="335584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mobile, long range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46720" y="3977640"/>
            <a:ext cx="411480" cy="411480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641080" y="391363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Solar relay beacons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8641080" y="422452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static, always-on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46720" y="4846320"/>
            <a:ext cx="411480" cy="411480"/>
          </a:xfrm>
          <a:prstGeom prst="ellipse">
            <a:avLst/>
          </a:prstGeom>
          <a:solidFill>
            <a:srgbClr val="1C2A3F"/>
          </a:solidFill>
          <a:ln w="12700">
            <a:solidFill>
              <a:srgbClr val="1C2A3F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8641080" y="4782312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Command post gateway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8641080" y="509320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satellite uplink when available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Life of an SOS: multi-hop out, receipt back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1463040" y="2057400"/>
            <a:ext cx="1874520" cy="0"/>
          </a:xfrm>
          <a:prstGeom prst="line">
            <a:avLst/>
          </a:prstGeom>
          <a:noFill/>
          <a:ln w="25400">
            <a:solidFill>
              <a:srgbClr val="2EC4B6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960120" y="1645920"/>
            <a:ext cx="822960" cy="82296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6974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Create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5468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2DE"/>
                </a:solidFill>
              </a:rPr>
              <a:t>Victim taps SOS; bundle gets ID, GPS, priority 0, 16-copy quota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37560" y="2057400"/>
            <a:ext cx="1874520" cy="0"/>
          </a:xfrm>
          <a:prstGeom prst="line">
            <a:avLst/>
          </a:prstGeom>
          <a:noFill/>
          <a:ln w="25400">
            <a:solidFill>
              <a:srgbClr val="2EC4B6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2834640" y="1645920"/>
            <a:ext cx="822960" cy="82296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83464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2423160" y="26974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Spray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423160" y="315468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2DE"/>
                </a:solidFill>
              </a:rPr>
              <a:t>Copies halve at each encounter, fanning out across the crowd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12080" y="2057400"/>
            <a:ext cx="1874520" cy="0"/>
          </a:xfrm>
          <a:prstGeom prst="line">
            <a:avLst/>
          </a:prstGeom>
          <a:noFill/>
          <a:ln w="25400">
            <a:solidFill>
              <a:srgbClr val="2EC4B6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4709160" y="1645920"/>
            <a:ext cx="822960" cy="82296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0916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4297680" y="26974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Carry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4297680" y="315468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2DE"/>
                </a:solidFill>
              </a:rPr>
              <a:t>In blackout zones, carriers hold custody until they walk out of the gap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086600" y="2057400"/>
            <a:ext cx="1874520" cy="0"/>
          </a:xfrm>
          <a:prstGeom prst="line">
            <a:avLst/>
          </a:prstGeom>
          <a:noFill/>
          <a:ln w="25400">
            <a:solidFill>
              <a:srgbClr val="2EC4B6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583680" y="1645920"/>
            <a:ext cx="822960" cy="82296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6172200" y="26974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Hand-off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172200" y="315468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2DE"/>
                </a:solidFill>
              </a:rPr>
              <a:t>Last copy moves only to nodes likelier to meet the destination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961120" y="2057400"/>
            <a:ext cx="1874520" cy="0"/>
          </a:xfrm>
          <a:prstGeom prst="line">
            <a:avLst/>
          </a:prstGeom>
          <a:noFill/>
          <a:ln w="25400">
            <a:solidFill>
              <a:srgbClr val="2EC4B6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8458200" y="1645920"/>
            <a:ext cx="822960" cy="82296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45820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26" name="Text 24"/>
          <p:cNvSpPr txBox="1"/>
          <p:nvPr/>
        </p:nvSpPr>
        <p:spPr>
          <a:xfrm>
            <a:off x="8046720" y="26974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Deliver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8046720" y="315468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2DE"/>
                </a:solidFill>
              </a:rPr>
              <a:t>Rescue post receives; duplicate copies are suppressed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10332720" y="1645920"/>
            <a:ext cx="822960" cy="82296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0332720" y="16459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6</a:t>
            </a:r>
            <a:endParaRPr lang="en-US" sz="2000" dirty="0"/>
          </a:p>
        </p:txBody>
      </p:sp>
      <p:sp>
        <p:nvSpPr>
          <p:cNvPr id="30" name="Text 28"/>
          <p:cNvSpPr txBox="1"/>
          <p:nvPr/>
        </p:nvSpPr>
        <p:spPr>
          <a:xfrm>
            <a:off x="9921240" y="2697480"/>
            <a:ext cx="1691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Confirm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9921240" y="3154680"/>
            <a:ext cx="1691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9D2DE"/>
                </a:solidFill>
              </a:rPr>
              <a:t>ACK floods back; sender sees ✓✓ delivered and buffers purge</a:t>
            </a:r>
            <a:endParaRPr lang="en-US" sz="1300" dirty="0"/>
          </a:p>
        </p:txBody>
      </p:sp>
      <p:sp>
        <p:nvSpPr>
          <p:cNvPr id="32" name="statusbar"/>
          <p:cNvSpPr/>
          <p:nvPr/>
        </p:nvSpPr>
        <p:spPr>
          <a:xfrm>
            <a:off x="548640" y="4892040"/>
            <a:ext cx="11064240" cy="1188720"/>
          </a:xfrm>
          <a:prstGeom prst="roundRect">
            <a:avLst>
              <a:gd name="adj" fmla="val 9231"/>
            </a:avLst>
          </a:prstGeom>
          <a:solidFill>
            <a:srgbClr val="1C2A3F"/>
          </a:solidFill>
          <a:ln w="12700">
            <a:solidFill>
              <a:srgbClr val="1C2A3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822960" y="50292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8D99AE"/>
                </a:solidFill>
              </a:rPr>
              <a:t>⏳ Queued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3520440" y="50292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C857"/>
                </a:solidFill>
              </a:rPr>
              <a:t>↗ Relayed (n hops)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6217920" y="50292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C4B6"/>
                </a:solidFill>
              </a:rPr>
              <a:t>✓ Delivered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8915400" y="5029200"/>
            <a:ext cx="2560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6B35"/>
                </a:solidFill>
              </a:rPr>
              <a:t>✓✓ Confirmed to sender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Routing tuned for scarce, broken links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658368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280160"/>
                <a:gridCol w="1097280"/>
                <a:gridCol w="27432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Priority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Copy quota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TTL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Buffer policy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32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E63946"/>
                          </a:solidFill>
                        </a:rPr>
                        <a:t>P0 · SOS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320"/>
                          </a:solidFill>
                        </a:rPr>
                        <a:t>16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320"/>
                          </a:solidFill>
                        </a:rPr>
                        <a:t>100 min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320"/>
                          </a:solidFill>
                        </a:rPr>
                        <a:t>Never evicted; may evict P1/P2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6B35"/>
                          </a:solidFill>
                        </a:rPr>
                        <a:t>P1 · Urgent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320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320"/>
                          </a:solidFill>
                        </a:rPr>
                        <a:t>67 min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320"/>
                          </a:solidFill>
                        </a:rPr>
                        <a:t>Evicts P2 when full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5A7DA8"/>
                          </a:solidFill>
                        </a:rPr>
                        <a:t>P2 · Info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320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320"/>
                          </a:solidFill>
                        </a:rPr>
                        <a:t>42 min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320"/>
                          </a:solidFill>
                        </a:rPr>
                        <a:t>First to drop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formula"/>
          <p:cNvSpPr/>
          <p:nvPr/>
        </p:nvSpPr>
        <p:spPr>
          <a:xfrm>
            <a:off x="7498080" y="1463040"/>
            <a:ext cx="4114800" cy="44805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772400" y="16459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Delivery predictability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7772400" y="2194560"/>
            <a:ext cx="3657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On meeting b: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P(a,b) ← P + (1−P)·0.75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Transitive: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P(a,c) ← max(P, P(a,b)·P(b,c)·0.25)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Aging per 10 s: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← P·0.995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accent1"/>
                </a:solidFill>
              </a:rPr>
              <a:t>Hand off last copy only if P(b,dst) &gt; P(a,dst) + 0.05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84048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Bandwidth cap of 4 bundles per contact per 10 s is spent in priority order — an SOS never waits behind a status update.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484632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</a:rPr>
              <a:t>ACK digests are a few bytes of message IDs, merged on every contact where the two sets differ.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under simulated network outages</a:t>
            </a:r>
            <a:endParaRPr lang="en-US" sz="3600" dirty="0"/>
          </a:p>
        </p:txBody>
      </p:sp>
      <p:sp>
        <p:nvSpPr>
          <p:cNvPr id="3" name="setup0"/>
          <p:cNvSpPr/>
          <p:nvPr/>
        </p:nvSpPr>
        <p:spPr>
          <a:xfrm>
            <a:off x="548640" y="1463040"/>
            <a:ext cx="3474720" cy="1600200"/>
          </a:xfrm>
          <a:prstGeom prst="roundRect">
            <a:avLst>
              <a:gd name="adj" fmla="val 6857"/>
            </a:avLst>
          </a:prstGeom>
          <a:solidFill>
            <a:srgbClr val="1C2A3F"/>
          </a:solidFill>
          <a:ln w="12700">
            <a:solidFill>
              <a:srgbClr val="1C2A3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4231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2DE"/>
                </a:solidFill>
              </a:rPr>
              <a:t>nodes (60 mobile, 6 static relays)</a:t>
            </a:r>
            <a:endParaRPr lang="en-US" sz="1400" dirty="0"/>
          </a:p>
        </p:txBody>
      </p:sp>
      <p:sp>
        <p:nvSpPr>
          <p:cNvPr id="6" name="setup1"/>
          <p:cNvSpPr/>
          <p:nvPr/>
        </p:nvSpPr>
        <p:spPr>
          <a:xfrm>
            <a:off x="4297680" y="1463040"/>
            <a:ext cx="3474720" cy="1600200"/>
          </a:xfrm>
          <a:prstGeom prst="roundRect">
            <a:avLst>
              <a:gd name="adj" fmla="val 6857"/>
            </a:avLst>
          </a:prstGeom>
          <a:solidFill>
            <a:srgbClr val="1C2A3F"/>
          </a:solidFill>
          <a:ln w="12700">
            <a:solidFill>
              <a:srgbClr val="1C2A3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4572000" y="16459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km²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4572000" y="24231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2DE"/>
                </a:solidFill>
              </a:rPr>
              <a:t>disaster zone, 120 m radio range</a:t>
            </a:r>
            <a:endParaRPr lang="en-US" sz="1400" dirty="0"/>
          </a:p>
        </p:txBody>
      </p:sp>
      <p:sp>
        <p:nvSpPr>
          <p:cNvPr id="9" name="setup2"/>
          <p:cNvSpPr/>
          <p:nvPr/>
        </p:nvSpPr>
        <p:spPr>
          <a:xfrm>
            <a:off x="8046720" y="1463040"/>
            <a:ext cx="3474720" cy="1600200"/>
          </a:xfrm>
          <a:prstGeom prst="roundRect">
            <a:avLst>
              <a:gd name="adj" fmla="val 6857"/>
            </a:avLst>
          </a:prstGeom>
          <a:solidFill>
            <a:srgbClr val="1C2A3F"/>
          </a:solidFill>
          <a:ln w="12700">
            <a:solidFill>
              <a:srgbClr val="1C2A3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8321040" y="16459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 min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8321040" y="24231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2DE"/>
                </a:solidFill>
              </a:rPr>
              <a:t>simulated, 10 s steps</a:t>
            </a:r>
            <a:endParaRPr lang="en-US" sz="1400" dirty="0"/>
          </a:p>
        </p:txBody>
      </p:sp>
      <p:sp>
        <p:nvSpPr>
          <p:cNvPr id="12" name="setup3"/>
          <p:cNvSpPr/>
          <p:nvPr/>
        </p:nvSpPr>
        <p:spPr>
          <a:xfrm>
            <a:off x="548640" y="3291840"/>
            <a:ext cx="3474720" cy="1600200"/>
          </a:xfrm>
          <a:prstGeom prst="roundRect">
            <a:avLst>
              <a:gd name="adj" fmla="val 6857"/>
            </a:avLst>
          </a:prstGeom>
          <a:solidFill>
            <a:srgbClr val="1C2A3F"/>
          </a:solidFill>
          <a:ln w="12700">
            <a:solidFill>
              <a:srgbClr val="1C2A3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822960" y="34747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120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2519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2DE"/>
                </a:solidFill>
              </a:rPr>
              <a:t>messages / run, 20% SOS</a:t>
            </a:r>
            <a:endParaRPr lang="en-US" sz="1400" dirty="0"/>
          </a:p>
        </p:txBody>
      </p:sp>
      <p:sp>
        <p:nvSpPr>
          <p:cNvPr id="15" name="setup4"/>
          <p:cNvSpPr/>
          <p:nvPr/>
        </p:nvSpPr>
        <p:spPr>
          <a:xfrm>
            <a:off x="4297680" y="3291840"/>
            <a:ext cx="3474720" cy="1600200"/>
          </a:xfrm>
          <a:prstGeom prst="roundRect">
            <a:avLst>
              <a:gd name="adj" fmla="val 6857"/>
            </a:avLst>
          </a:prstGeom>
          <a:solidFill>
            <a:srgbClr val="1C2A3F"/>
          </a:solidFill>
          <a:ln w="12700">
            <a:solidFill>
              <a:srgbClr val="1C2A3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4572000" y="34747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0–50%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0" y="42519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2DE"/>
                </a:solidFill>
              </a:rPr>
              <a:t>nodes killed at t = 20 min</a:t>
            </a:r>
            <a:endParaRPr lang="en-US" sz="1400" dirty="0"/>
          </a:p>
        </p:txBody>
      </p:sp>
      <p:sp>
        <p:nvSpPr>
          <p:cNvPr id="18" name="setup5"/>
          <p:cNvSpPr/>
          <p:nvPr/>
        </p:nvSpPr>
        <p:spPr>
          <a:xfrm>
            <a:off x="8046720" y="3291840"/>
            <a:ext cx="3474720" cy="1600200"/>
          </a:xfrm>
          <a:prstGeom prst="roundRect">
            <a:avLst>
              <a:gd name="adj" fmla="val 6857"/>
            </a:avLst>
          </a:prstGeom>
          <a:solidFill>
            <a:srgbClr val="1C2A3F"/>
          </a:solidFill>
          <a:ln w="12700">
            <a:solidFill>
              <a:srgbClr val="1C2A3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8321040" y="347472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20" name="Text 18"/>
          <p:cNvSpPr txBox="1"/>
          <p:nvPr/>
        </p:nvSpPr>
        <p:spPr>
          <a:xfrm>
            <a:off x="8321040" y="42519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2DE"/>
                </a:solidFill>
              </a:rPr>
              <a:t>seeds per point, 4 protocols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525780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</a:rPr>
              <a:t>Plus a regional blackout: </a:t>
            </a:r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every node in the western 40% of the zone goes silent from minute 33 to 50 — modelling a power-cut sector.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Delivery holds up as the network falls apart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749808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k1"/>
          <p:cNvSpPr/>
          <p:nvPr/>
        </p:nvSpPr>
        <p:spPr>
          <a:xfrm>
            <a:off x="8412480" y="1463040"/>
            <a:ext cx="32004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8686800" y="16002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68%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8686800" y="256032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of messages still delivered with half the network destroyed</a:t>
            </a:r>
            <a:endParaRPr lang="en-US" sz="1400" dirty="0"/>
          </a:p>
        </p:txBody>
      </p:sp>
      <p:sp>
        <p:nvSpPr>
          <p:cNvPr id="7" name="k2"/>
          <p:cNvSpPr/>
          <p:nvPr/>
        </p:nvSpPr>
        <p:spPr>
          <a:xfrm>
            <a:off x="8412480" y="3840480"/>
            <a:ext cx="32004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686800" y="397764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+23 pts</a:t>
            </a:r>
            <a:endParaRPr lang="en-US" sz="5400" dirty="0"/>
          </a:p>
        </p:txBody>
      </p:sp>
      <p:sp>
        <p:nvSpPr>
          <p:cNvPr id="9" name="Text 6"/>
          <p:cNvSpPr txBox="1"/>
          <p:nvPr/>
        </p:nvSpPr>
        <p:spPr>
          <a:xfrm>
            <a:off x="8686800" y="493776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over direct carrying at 50% failure; within 5 pts of flooding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SOS messages arrive twice as fast as spray-and-wait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54864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"/>
          <p:cNvGraphicFramePr/>
          <p:nvPr/>
        </p:nvGraphicFramePr>
        <p:xfrm>
          <a:off x="6309360" y="1371600"/>
          <a:ext cx="530352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Flooding works, but burns scarce bandwidth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40080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ovh"/>
          <p:cNvSpPr/>
          <p:nvPr/>
        </p:nvSpPr>
        <p:spPr>
          <a:xfrm>
            <a:off x="7315200" y="1463040"/>
            <a:ext cx="4297680" cy="4480560"/>
          </a:xfrm>
          <a:prstGeom prst="roundRect">
            <a:avLst>
              <a:gd name="adj" fmla="val 2553"/>
            </a:avLst>
          </a:prstGeom>
          <a:solidFill>
            <a:srgbClr val="1C2A3F"/>
          </a:solidFill>
          <a:ln w="12700">
            <a:solidFill>
              <a:srgbClr val="1C2A3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7589520" y="164592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40×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7589520" y="288036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less data traffic than epidemic flooding at near-identical delivery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7589520" y="3840480"/>
            <a:ext cx="3749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2DE"/>
                </a:solidFill>
              </a:rPr>
              <a:t>Fewer transmissions mean longer phone batteries, less radio contention, and room for SOS traffic on LoRa duty-cycle limits. Receipts add ~35 tiny digest exchanges per delivery.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Senders know their message got through</a:t>
            </a:r>
            <a:endParaRPr lang="en-US" sz="36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6949440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ack0"/>
          <p:cNvSpPr/>
          <p:nvPr/>
        </p:nvSpPr>
        <p:spPr>
          <a:xfrm>
            <a:off x="7863840" y="1463040"/>
            <a:ext cx="3749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5" name="Text 2"/>
          <p:cNvSpPr txBox="1"/>
          <p:nvPr/>
        </p:nvSpPr>
        <p:spPr>
          <a:xfrm>
            <a:off x="8138160" y="15544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97%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2286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receipts returned at 20% failure</a:t>
            </a:r>
            <a:endParaRPr lang="en-US" sz="1400" dirty="0"/>
          </a:p>
        </p:txBody>
      </p:sp>
      <p:sp>
        <p:nvSpPr>
          <p:cNvPr id="7" name="ack1"/>
          <p:cNvSpPr/>
          <p:nvPr/>
        </p:nvSpPr>
        <p:spPr>
          <a:xfrm>
            <a:off x="7863840" y="3017520"/>
            <a:ext cx="3749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138160" y="310896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 min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8138160" y="38404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median send → ✓✓ confirmation</a:t>
            </a:r>
            <a:endParaRPr lang="en-US" sz="1400" dirty="0"/>
          </a:p>
        </p:txBody>
      </p:sp>
      <p:sp>
        <p:nvSpPr>
          <p:cNvPr id="10" name="ack2"/>
          <p:cNvSpPr/>
          <p:nvPr/>
        </p:nvSpPr>
        <p:spPr>
          <a:xfrm>
            <a:off x="7863840" y="4572000"/>
            <a:ext cx="3749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138160" y="466344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8138160" y="53949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baselines that give any delivery status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Resilience scorecard at 30% node failure</a:t>
            </a:r>
            <a:endParaRPr lang="en-US" sz="3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6424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645920"/>
                <a:gridCol w="1828800"/>
                <a:gridCol w="1737360"/>
                <a:gridCol w="1737360"/>
                <a:gridCol w="1828800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320"/>
                          </a:solidFill>
                        </a:rPr>
                        <a:t>Protocol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4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320"/>
                          </a:solidFill>
                        </a:rPr>
                        <a:t>Delivery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4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320"/>
                          </a:solidFill>
                        </a:rPr>
                        <a:t>SOS delivery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4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320"/>
                          </a:solidFill>
                        </a:rPr>
                        <a:t>SOS latency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4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320"/>
                          </a:solidFill>
                        </a:rPr>
                        <a:t>Tx / delivery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4B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0B1320"/>
                          </a:solidFill>
                        </a:rPr>
                        <a:t>Delivery receipts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C4B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Direct carry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62.2%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65.1%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13.6 min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1.0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3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Epidemic flood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82.5%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87.9%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1.7 min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631.2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3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Spray &amp; Wait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80.8%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84.7%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3.8 min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14.3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3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FFFFFF"/>
                          </a:solidFill>
                        </a:rPr>
                        <a:t>—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A3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6B35"/>
                          </a:solidFill>
                        </a:rPr>
                        <a:t>VOID-NAV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4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6B35"/>
                          </a:solidFill>
                        </a:rPr>
                        <a:t>80.1%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4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6B35"/>
                          </a:solidFill>
                        </a:rPr>
                        <a:t>84.8%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4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6B35"/>
                          </a:solidFill>
                        </a:rPr>
                        <a:t>3.0 min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4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6B35"/>
                          </a:solidFill>
                        </a:rPr>
                        <a:t>18.3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4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6B35"/>
                          </a:solidFill>
                        </a:rPr>
                        <a:t>97%</a:t>
                      </a:r>
                      <a:endParaRPr lang="en-US" sz="1600" dirty="0"/>
                    </a:p>
                  </a:txBody>
                  <a:tcPr marL="91440" marR="91440" marT="45720" marB="45720" anchor="ctr">
                    <a:lnL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B132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44D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120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Only VOID-NAV combines flood-class delivery, fast SOS, low overhead and end-to-end confirmation.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Demonstration and roadmap</a:t>
            </a:r>
            <a:endParaRPr lang="en-US" sz="3600" dirty="0"/>
          </a:p>
        </p:txBody>
      </p:sp>
      <p:sp>
        <p:nvSpPr>
          <p:cNvPr id="3" name="demo"/>
          <p:cNvSpPr/>
          <p:nvPr/>
        </p:nvSpPr>
        <p:spPr>
          <a:xfrm>
            <a:off x="548640" y="1463040"/>
            <a:ext cx="53949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5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822960" y="16459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Run it yourself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194560"/>
            <a:ext cx="4846320" cy="457200"/>
          </a:xfrm>
          <a:prstGeom prst="rect">
            <a:avLst/>
          </a:prstGeom>
          <a:solidFill>
            <a:srgbClr val="0B132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sim/voidnav.py results/results.json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834640"/>
            <a:ext cx="48463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Pure Python, no dependencies, seeded and reproducible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Sweeps 4 protocols × 6 outage levels × 5 seeds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chemeClr val="tx1"/>
                </a:solidFill>
              </a:rPr>
              <a:t>Emits JSON that rebuilds every chart in this deck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0" y="1600200"/>
            <a:ext cx="868680" cy="86868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0" y="160020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Now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498080" y="160020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Simulator, routing engine, ACK plane, evaluation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400800" y="3063240"/>
            <a:ext cx="868680" cy="86868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306324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Next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306324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Android app over BLE + Wi-Fi Direct; LoRa relay firmware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0" y="4526280"/>
            <a:ext cx="868680" cy="868680"/>
          </a:xfrm>
          <a:prstGeom prst="ellipse">
            <a:avLst/>
          </a:prstGeom>
          <a:solidFill>
            <a:srgbClr val="FFC857"/>
          </a:solidFill>
          <a:ln w="12700">
            <a:solidFill>
              <a:srgbClr val="FFC85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0" y="4526280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Then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7498080" y="452628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Field trial with responders; end-to-end encryption and signed bundles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2103120"/>
            <a:ext cx="7680960" cy="1463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towers. No Internet. Still heard.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657600"/>
            <a:ext cx="7315200" cy="10972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2000" dirty="0">
                <a:solidFill>
                  <a:schemeClr val="accent2"/>
                </a:solidFill>
              </a:rPr>
              <a:t>VOID-NAV · multi-hop · priority-aware · delivery-confirmed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9326880" y="1097280"/>
            <a:ext cx="365760" cy="365760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789920" y="1737360"/>
            <a:ext cx="365760" cy="36576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778240" y="2834640"/>
            <a:ext cx="365760" cy="36576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241280" y="3291840"/>
            <a:ext cx="365760" cy="36576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338560" y="4206240"/>
            <a:ext cx="365760" cy="36576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35440" y="4572000"/>
            <a:ext cx="365760" cy="36576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424160" y="5486400"/>
            <a:ext cx="365760" cy="36576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0" y="5669280"/>
            <a:ext cx="365760" cy="36576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VOID-NAV Signal">
  <a:themeElements>
    <a:clrScheme name="VOID-NAV Signal">
      <a:dk1>
        <a:srgbClr val="0B1320"/>
      </a:dk1>
      <a:lt1>
        <a:srgbClr val="FFFFFF"/>
      </a:lt1>
      <a:dk2>
        <a:srgbClr val="1C2A3F"/>
      </a:dk2>
      <a:lt2>
        <a:srgbClr val="EEF2F7"/>
      </a:lt2>
      <a:accent1>
        <a:srgbClr val="FF6B35"/>
      </a:accent1>
      <a:accent2>
        <a:srgbClr val="2EC4B6"/>
      </a:accent2>
      <a:accent3>
        <a:srgbClr val="FFC857"/>
      </a:accent3>
      <a:accent4>
        <a:srgbClr val="8D99AE"/>
      </a:accent4>
      <a:accent5>
        <a:srgbClr val="E63946"/>
      </a:accent5>
      <a:accent6>
        <a:srgbClr val="5A7DA8"/>
      </a:accent6>
      <a:hlink>
        <a:srgbClr val="2EC4B6"/>
      </a:hlink>
      <a:folHlink>
        <a:srgbClr val="8D99AE"/>
      </a:folHlink>
    </a:clrScheme>
    <a:fontScheme name="VOID-NAV Sign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VOID-NAV: Off-Grid Emergency Communication</dc:title>
  <dc:subject>PptxGenJS Presentation</dc:subject>
  <dc:creator>PptxGenJS</dc:creator>
  <cp:lastModifiedBy>PptxGenJS</cp:lastModifiedBy>
  <cp:revision>1</cp:revision>
  <dcterms:created xsi:type="dcterms:W3CDTF">2026-10-09T07:04:12Z</dcterms:created>
  <dcterms:modified xsi:type="dcterms:W3CDTF">2026-10-09T07:04:12Z</dcterms:modified>
</cp:coreProperties>
</file>